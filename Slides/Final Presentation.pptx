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81" r:id="rId4"/>
    <p:sldId id="279" r:id="rId5"/>
    <p:sldId id="260" r:id="rId6"/>
    <p:sldId id="261" r:id="rId7"/>
    <p:sldId id="278" r:id="rId8"/>
    <p:sldId id="277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9"/>
    <p:restoredTop sz="94653"/>
  </p:normalViewPr>
  <p:slideViewPr>
    <p:cSldViewPr snapToGrid="0">
      <p:cViewPr varScale="1">
        <p:scale>
          <a:sx n="156" d="100"/>
          <a:sy n="156" d="100"/>
        </p:scale>
        <p:origin x="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6fd70bd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6fd70bd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6fd70bd1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6fd70bd1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200">
                <a:solidFill>
                  <a:srgbClr val="404040"/>
                </a:solidFill>
                <a:highlight>
                  <a:srgbClr val="FFFFFF"/>
                </a:highlight>
              </a:rPr>
              <a:t>The Commodity Futures Trading Commission (CFTC) provides key market metrics—such as </a:t>
            </a:r>
            <a:r>
              <a:rPr lang="zh-CN" sz="1200" b="1">
                <a:solidFill>
                  <a:srgbClr val="404040"/>
                </a:solidFill>
                <a:highlight>
                  <a:srgbClr val="FFFFFF"/>
                </a:highlight>
              </a:rPr>
              <a:t>open interest</a:t>
            </a:r>
            <a:r>
              <a:rPr lang="zh-CN" sz="1200">
                <a:solidFill>
                  <a:srgbClr val="404040"/>
                </a:solidFill>
                <a:highlight>
                  <a:srgbClr val="FFFFFF"/>
                </a:highlight>
              </a:rPr>
              <a:t> and </a:t>
            </a:r>
            <a:r>
              <a:rPr lang="zh-CN" sz="1200" b="1">
                <a:solidFill>
                  <a:srgbClr val="404040"/>
                </a:solidFill>
                <a:highlight>
                  <a:srgbClr val="FFFFFF"/>
                </a:highlight>
              </a:rPr>
              <a:t>trader counts</a:t>
            </a:r>
            <a:r>
              <a:rPr lang="zh-CN" sz="1200">
                <a:solidFill>
                  <a:srgbClr val="404040"/>
                </a:solidFill>
                <a:highlight>
                  <a:srgbClr val="FFFFFF"/>
                </a:highlight>
              </a:rPr>
              <a:t>—for futures and options markets. These metrics help financial institutions, regulators, and analysts assess market dynamics, including:</a:t>
            </a:r>
            <a:endParaRPr sz="1200">
              <a:solidFill>
                <a:srgbClr val="40404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zh-CN" sz="1200" b="1">
                <a:solidFill>
                  <a:srgbClr val="404040"/>
                </a:solidFill>
                <a:highlight>
                  <a:srgbClr val="FFFFFF"/>
                </a:highlight>
              </a:rPr>
              <a:t>Dominance of fund managers</a:t>
            </a:r>
            <a:r>
              <a:rPr lang="zh-CN" sz="1200">
                <a:solidFill>
                  <a:srgbClr val="404040"/>
                </a:solidFill>
                <a:highlight>
                  <a:srgbClr val="FFFFFF"/>
                </a:highlight>
              </a:rPr>
              <a:t> (who may drive large price movements)</a:t>
            </a:r>
            <a:endParaRPr sz="1200">
              <a:solidFill>
                <a:srgbClr val="40404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zh-CN" sz="1200" b="1">
                <a:solidFill>
                  <a:srgbClr val="404040"/>
                </a:solidFill>
                <a:highlight>
                  <a:srgbClr val="FFFFFF"/>
                </a:highlight>
              </a:rPr>
              <a:t>Speculative activity</a:t>
            </a:r>
            <a:r>
              <a:rPr lang="zh-CN" sz="1200">
                <a:solidFill>
                  <a:srgbClr val="404040"/>
                </a:solidFill>
                <a:highlight>
                  <a:srgbClr val="FFFFFF"/>
                </a:highlight>
              </a:rPr>
              <a:t> (indicating potential market instability)</a:t>
            </a:r>
            <a:endParaRPr sz="1200">
              <a:solidFill>
                <a:srgbClr val="404040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Char char="●"/>
            </a:pPr>
            <a:r>
              <a:rPr lang="zh-CN" sz="1200" b="1">
                <a:solidFill>
                  <a:srgbClr val="404040"/>
                </a:solidFill>
                <a:highlight>
                  <a:srgbClr val="FFFFFF"/>
                </a:highlight>
              </a:rPr>
              <a:t>Trends in trader positioning</a:t>
            </a:r>
            <a:r>
              <a:rPr lang="zh-CN" sz="1200">
                <a:solidFill>
                  <a:srgbClr val="404040"/>
                </a:solidFill>
                <a:highlight>
                  <a:srgbClr val="FFFFFF"/>
                </a:highlight>
              </a:rPr>
              <a:t> (useful for volatility forecasting)</a:t>
            </a:r>
            <a:endParaRPr sz="1200">
              <a:solidFill>
                <a:srgbClr val="404040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790E3B3F-8083-33A4-F150-E721B1F1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8691a239a_2_0:notes">
            <a:extLst>
              <a:ext uri="{FF2B5EF4-FFF2-40B4-BE49-F238E27FC236}">
                <a16:creationId xmlns:a16="http://schemas.microsoft.com/office/drawing/2014/main" id="{6EF703CF-E7C5-FDBD-DD31-4B5141CECD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8691a239a_2_0:notes">
            <a:extLst>
              <a:ext uri="{FF2B5EF4-FFF2-40B4-BE49-F238E27FC236}">
                <a16:creationId xmlns:a16="http://schemas.microsoft.com/office/drawing/2014/main" id="{2C14D88B-C09B-0903-91E4-6B0AB3E4F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3189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DF9969EB-05C8-1CCB-B1CC-D4216ECB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8691a239a_2_0:notes">
            <a:extLst>
              <a:ext uri="{FF2B5EF4-FFF2-40B4-BE49-F238E27FC236}">
                <a16:creationId xmlns:a16="http://schemas.microsoft.com/office/drawing/2014/main" id="{839CD427-E191-FC74-CDA1-E6922E0A5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8691a239a_2_0:notes">
            <a:extLst>
              <a:ext uri="{FF2B5EF4-FFF2-40B4-BE49-F238E27FC236}">
                <a16:creationId xmlns:a16="http://schemas.microsoft.com/office/drawing/2014/main" id="{D3F20AAF-B704-DECC-A623-B739E12254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829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8691a239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8691a239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8691a239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8691a239a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8563DED-5A86-3980-5986-86911C5D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8691a239a_2_0:notes">
            <a:extLst>
              <a:ext uri="{FF2B5EF4-FFF2-40B4-BE49-F238E27FC236}">
                <a16:creationId xmlns:a16="http://schemas.microsoft.com/office/drawing/2014/main" id="{8A1E0CE5-65EF-BFB5-99D0-460DAB40A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8691a239a_2_0:notes">
            <a:extLst>
              <a:ext uri="{FF2B5EF4-FFF2-40B4-BE49-F238E27FC236}">
                <a16:creationId xmlns:a16="http://schemas.microsoft.com/office/drawing/2014/main" id="{9E370F40-3BF6-28CE-D62E-C90D77F20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322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FFDF264B-36C8-5214-E33C-F7395336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8691a239a_2_0:notes">
            <a:extLst>
              <a:ext uri="{FF2B5EF4-FFF2-40B4-BE49-F238E27FC236}">
                <a16:creationId xmlns:a16="http://schemas.microsoft.com/office/drawing/2014/main" id="{BCC4018E-9BB4-3F86-F70B-64681D71B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8691a239a_2_0:notes">
            <a:extLst>
              <a:ext uri="{FF2B5EF4-FFF2-40B4-BE49-F238E27FC236}">
                <a16:creationId xmlns:a16="http://schemas.microsoft.com/office/drawing/2014/main" id="{E7AFD3BB-3C83-D381-2884-20EC310DD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2213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6fd70bd1f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6fd70bd1f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>
  <p:cSld name="标题和内容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938543" y="-308359"/>
            <a:ext cx="1214400" cy="913200"/>
          </a:xfrm>
          <a:prstGeom prst="roundRect">
            <a:avLst>
              <a:gd name="adj" fmla="val 14907"/>
            </a:avLst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-435703" y="-251422"/>
            <a:ext cx="993300" cy="536100"/>
          </a:xfrm>
          <a:prstGeom prst="roundRect">
            <a:avLst>
              <a:gd name="adj" fmla="val 23145"/>
            </a:avLst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210290" y="219380"/>
            <a:ext cx="130500" cy="130500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558280" y="110955"/>
            <a:ext cx="2129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请在此输入标题</a:t>
            </a:r>
            <a:endParaRPr sz="11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301425" y="2853125"/>
            <a:ext cx="841500" cy="2964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250070" y="1645765"/>
            <a:ext cx="2353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595959"/>
                </a:solidFill>
              </a:rPr>
              <a:t>APAN5400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86975" y="1860425"/>
            <a:ext cx="72354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>
                <a:solidFill>
                  <a:srgbClr val="595959"/>
                </a:solidFill>
              </a:rPr>
              <a:t>Project Presentation</a:t>
            </a:r>
            <a:endParaRPr sz="1100"/>
          </a:p>
        </p:txBody>
      </p:sp>
      <p:sp>
        <p:nvSpPr>
          <p:cNvPr id="57" name="Google Shape;57;p13"/>
          <p:cNvSpPr txBox="1"/>
          <p:nvPr/>
        </p:nvSpPr>
        <p:spPr>
          <a:xfrm>
            <a:off x="1347100" y="2874425"/>
            <a:ext cx="9930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Group 3：</a:t>
            </a:r>
            <a:endParaRPr sz="1100"/>
          </a:p>
        </p:txBody>
      </p:sp>
      <p:sp>
        <p:nvSpPr>
          <p:cNvPr id="58" name="Google Shape;58;p13"/>
          <p:cNvSpPr/>
          <p:nvPr/>
        </p:nvSpPr>
        <p:spPr>
          <a:xfrm rot="10800000" flipH="1">
            <a:off x="-1026656" y="-296844"/>
            <a:ext cx="2953200" cy="1531800"/>
          </a:xfrm>
          <a:prstGeom prst="roundRect">
            <a:avLst>
              <a:gd name="adj" fmla="val 15038"/>
            </a:avLst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/>
          <p:nvPr/>
        </p:nvSpPr>
        <p:spPr>
          <a:xfrm rot="10800000" flipH="1">
            <a:off x="317345" y="1104908"/>
            <a:ext cx="265200" cy="264900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7243936" y="3845763"/>
            <a:ext cx="2953200" cy="1531800"/>
          </a:xfrm>
          <a:prstGeom prst="roundRect">
            <a:avLst>
              <a:gd name="adj" fmla="val 15038"/>
            </a:avLst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8587933" y="3727154"/>
            <a:ext cx="265200" cy="265200"/>
          </a:xfrm>
          <a:prstGeom prst="ellipse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114375" y="2874425"/>
            <a:ext cx="37176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>
                <a:solidFill>
                  <a:schemeClr val="dk2"/>
                </a:solidFill>
              </a:rPr>
              <a:t>Zixuan Lin, Boping Song, Peng Yan, Junyi Zhu, Kangning Lei</a:t>
            </a:r>
            <a:endParaRPr sz="9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49830" y="256374"/>
            <a:ext cx="8270700" cy="4554300"/>
          </a:xfrm>
          <a:prstGeom prst="roundRect">
            <a:avLst>
              <a:gd name="adj" fmla="val 12005"/>
            </a:avLst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27375" y="122625"/>
            <a:ext cx="75183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 b="1">
                <a:solidFill>
                  <a:srgbClr val="595959"/>
                </a:solidFill>
              </a:rPr>
              <a:t>Project Overviw</a:t>
            </a:r>
            <a:endParaRPr sz="1200" b="1">
              <a:solidFill>
                <a:srgbClr val="404040"/>
              </a:solidFill>
              <a:highlight>
                <a:srgbClr val="FFFFFF"/>
              </a:highlight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2563869" y="2263371"/>
            <a:ext cx="1511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71725" y="1057375"/>
            <a:ext cx="57090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>
                <a:solidFill>
                  <a:schemeClr val="dk1"/>
                </a:solidFill>
              </a:rPr>
              <a:t>The growing volume of financial data, especially daily stock prices and firm-level metadata, presents new challenges for data storage, access, and usability. Investors, analysts, and developers increasingly need reliable, scalable systems that can handle time-series price data alongside diverse company profiles to support research, screening, and portfolio evaluation.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6928340" y="-4340533"/>
            <a:ext cx="3189900" cy="5182500"/>
          </a:xfrm>
          <a:prstGeom prst="roundRect">
            <a:avLst>
              <a:gd name="adj" fmla="val 12005"/>
            </a:avLst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7561343" y="24347"/>
            <a:ext cx="2953200" cy="1531800"/>
          </a:xfrm>
          <a:prstGeom prst="roundRect">
            <a:avLst>
              <a:gd name="adj" fmla="val 15038"/>
            </a:avLst>
          </a:prstGeom>
          <a:noFill/>
          <a:ln w="12700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71725" y="690038"/>
            <a:ext cx="15957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>
                <a:solidFill>
                  <a:srgbClr val="595959"/>
                </a:solidFill>
              </a:rPr>
              <a:t>Background</a:t>
            </a:r>
            <a:endParaRPr sz="1600" b="1" i="0" u="none" strike="noStrike" cap="none">
              <a:solidFill>
                <a:srgbClr val="595959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27375" y="2780725"/>
            <a:ext cx="32922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 sz="1600" b="1">
                <a:solidFill>
                  <a:schemeClr val="dk2"/>
                </a:solidFill>
              </a:rPr>
              <a:t>Problem Statement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27375" y="3202075"/>
            <a:ext cx="5653800" cy="14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Many users, specially students or beginner investors, may recognize a stock ticker (like TSLA or BABA) but lack context about what the company actually does.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They need a system that not only retrieves prices, but also provides business background, industry classification, and company size in a seamless way.</a:t>
            </a:r>
            <a:endParaRPr sz="2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76" name="Google Shape;76;p14" descr="Stock exchange trading analysis investment financial on display crisis stock crash down and grow up gain（由Getty Images提供）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150" y="690050"/>
            <a:ext cx="3058028" cy="379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10003E14-1830-60DE-5742-53E3B3DE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>
            <a:extLst>
              <a:ext uri="{FF2B5EF4-FFF2-40B4-BE49-F238E27FC236}">
                <a16:creationId xmlns:a16="http://schemas.microsoft.com/office/drawing/2014/main" id="{B6605F0C-3B3F-18E4-DC5A-B444A0DE418D}"/>
              </a:ext>
            </a:extLst>
          </p:cNvPr>
          <p:cNvSpPr txBox="1"/>
          <p:nvPr/>
        </p:nvSpPr>
        <p:spPr>
          <a:xfrm>
            <a:off x="125775" y="105263"/>
            <a:ext cx="9144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rgbClr val="595959"/>
                </a:solidFill>
              </a:rPr>
              <a:t>Data Source Specification and Procurement</a:t>
            </a:r>
            <a:endParaRPr sz="2400" b="1" dirty="0">
              <a:solidFill>
                <a:srgbClr val="59595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798FE-DAB0-A1BD-01A5-B503E85F5468}"/>
              </a:ext>
            </a:extLst>
          </p:cNvPr>
          <p:cNvSpPr txBox="1"/>
          <p:nvPr/>
        </p:nvSpPr>
        <p:spPr>
          <a:xfrm>
            <a:off x="2527739" y="987972"/>
            <a:ext cx="2438399" cy="3626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444791-1A49-A3B8-272C-8A10F66B2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154279"/>
              </p:ext>
            </p:extLst>
          </p:nvPr>
        </p:nvGraphicFramePr>
        <p:xfrm>
          <a:off x="409555" y="768811"/>
          <a:ext cx="8094411" cy="4064390"/>
        </p:xfrm>
        <a:graphic>
          <a:graphicData uri="http://schemas.openxmlformats.org/drawingml/2006/table">
            <a:tbl>
              <a:tblPr/>
              <a:tblGrid>
                <a:gridCol w="1944763">
                  <a:extLst>
                    <a:ext uri="{9D8B030D-6E8A-4147-A177-3AD203B41FA5}">
                      <a16:colId xmlns:a16="http://schemas.microsoft.com/office/drawing/2014/main" val="1844270393"/>
                    </a:ext>
                  </a:extLst>
                </a:gridCol>
                <a:gridCol w="2932386">
                  <a:extLst>
                    <a:ext uri="{9D8B030D-6E8A-4147-A177-3AD203B41FA5}">
                      <a16:colId xmlns:a16="http://schemas.microsoft.com/office/drawing/2014/main" val="874294206"/>
                    </a:ext>
                  </a:extLst>
                </a:gridCol>
                <a:gridCol w="3217262">
                  <a:extLst>
                    <a:ext uri="{9D8B030D-6E8A-4147-A177-3AD203B41FA5}">
                      <a16:colId xmlns:a16="http://schemas.microsoft.com/office/drawing/2014/main" val="871249611"/>
                    </a:ext>
                  </a:extLst>
                </a:gridCol>
              </a:tblGrid>
              <a:tr h="323327">
                <a:tc>
                  <a:txBody>
                    <a:bodyPr/>
                    <a:lstStyle/>
                    <a:p>
                      <a:r>
                        <a:rPr lang="en-US" sz="1300" dirty="0"/>
                        <a:t>Attribute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Stock Price Data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Company Information Data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776672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r>
                        <a:rPr lang="en-US" sz="1300" b="1" dirty="0"/>
                        <a:t>Source</a:t>
                      </a:r>
                      <a:endParaRPr lang="en-US" sz="1300" dirty="0"/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Nasdaq API(Free)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Yahoo Finance API(Free)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965275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r>
                        <a:rPr lang="en-US" sz="1300" b="1" dirty="0"/>
                        <a:t>Time Range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1962 to 2018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Still updated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571776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r>
                        <a:rPr lang="en-US" sz="1300" b="1" dirty="0"/>
                        <a:t>Number of Records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1.5 million rows * 14 columns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More than 3000 companies’ information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166380"/>
                  </a:ext>
                </a:extLst>
              </a:tr>
              <a:tr h="350496">
                <a:tc>
                  <a:txBody>
                    <a:bodyPr/>
                    <a:lstStyle/>
                    <a:p>
                      <a:r>
                        <a:rPr lang="en-US" sz="1300" b="1" dirty="0"/>
                        <a:t>Granularity</a:t>
                      </a:r>
                      <a:endParaRPr lang="en-US" sz="1300" dirty="0"/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Per day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Per company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605138"/>
                  </a:ext>
                </a:extLst>
              </a:tr>
              <a:tr h="323327">
                <a:tc>
                  <a:txBody>
                    <a:bodyPr/>
                    <a:lstStyle/>
                    <a:p>
                      <a:r>
                        <a:rPr lang="en-US" sz="1300" b="1" dirty="0"/>
                        <a:t>Key Unique</a:t>
                      </a:r>
                      <a:endParaRPr lang="en-US" sz="1300" dirty="0"/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ticker &amp; date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ticker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221581"/>
                  </a:ext>
                </a:extLst>
              </a:tr>
              <a:tr h="549656">
                <a:tc>
                  <a:txBody>
                    <a:bodyPr/>
                    <a:lstStyle/>
                    <a:p>
                      <a:r>
                        <a:rPr lang="en-US" sz="1300" b="1" dirty="0"/>
                        <a:t>Volume</a:t>
                      </a:r>
                      <a:endParaRPr lang="en-US" sz="1300" dirty="0"/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1.8GB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2MB(3000 companies we used)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563440"/>
                  </a:ext>
                </a:extLst>
              </a:tr>
              <a:tr h="323327">
                <a:tc>
                  <a:txBody>
                    <a:bodyPr/>
                    <a:lstStyle/>
                    <a:p>
                      <a:r>
                        <a:rPr lang="en-US" sz="1300" b="1" dirty="0"/>
                        <a:t>Data Format </a:t>
                      </a:r>
                      <a:endParaRPr lang="en-US" sz="1300" dirty="0"/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CSV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CSV, JSON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053787"/>
                  </a:ext>
                </a:extLst>
              </a:tr>
              <a:tr h="545289">
                <a:tc>
                  <a:txBody>
                    <a:bodyPr/>
                    <a:lstStyle/>
                    <a:p>
                      <a:r>
                        <a:rPr lang="en-US" sz="1300" b="1" dirty="0"/>
                        <a:t>Key Fields(Details in next page)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/>
                        <a:t>ticker, date, open, close, volume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MongoDB</a:t>
                      </a:r>
                    </a:p>
                  </a:txBody>
                  <a:tcPr marL="86855" marR="86855" marT="43428" marB="434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33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43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4206770B-5370-628D-75CF-704B533B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>
            <a:extLst>
              <a:ext uri="{FF2B5EF4-FFF2-40B4-BE49-F238E27FC236}">
                <a16:creationId xmlns:a16="http://schemas.microsoft.com/office/drawing/2014/main" id="{2505BA53-9290-30CF-6975-41F328F7A1C5}"/>
              </a:ext>
            </a:extLst>
          </p:cNvPr>
          <p:cNvSpPr txBox="1"/>
          <p:nvPr/>
        </p:nvSpPr>
        <p:spPr>
          <a:xfrm>
            <a:off x="125775" y="212550"/>
            <a:ext cx="9144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Quality Dimensions and Licensing</a:t>
            </a:r>
            <a:endParaRPr lang="en-US" sz="2400" b="1" dirty="0">
              <a:solidFill>
                <a:srgbClr val="59595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9A8782-338C-F913-DCD4-20B2E96F6973}"/>
              </a:ext>
            </a:extLst>
          </p:cNvPr>
          <p:cNvSpPr txBox="1"/>
          <p:nvPr/>
        </p:nvSpPr>
        <p:spPr>
          <a:xfrm>
            <a:off x="125775" y="842323"/>
            <a:ext cx="8881591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altLang="zh-CN" sz="1600" b="1" dirty="0">
                <a:solidFill>
                  <a:schemeClr val="dk2"/>
                </a:solidFill>
              </a:rPr>
              <a:t>Quality Dimensions</a:t>
            </a:r>
          </a:p>
          <a:p>
            <a:pPr marL="914400" indent="-311150">
              <a:lnSpc>
                <a:spcPct val="150000"/>
              </a:lnSpc>
              <a:buClr>
                <a:schemeClr val="dk2"/>
              </a:buClr>
              <a:buSzPts val="1300"/>
              <a:buFont typeface="Arial"/>
              <a:buAutoNum type="arabicPeriod"/>
            </a:pPr>
            <a:r>
              <a:rPr lang="en-US" sz="1600" dirty="0">
                <a:solidFill>
                  <a:schemeClr val="dk2"/>
                </a:solidFill>
              </a:rPr>
              <a:t>Both our datasets are good in accuracy, validity, and Uniqueness</a:t>
            </a: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600" dirty="0">
                <a:solidFill>
                  <a:schemeClr val="dk2"/>
                </a:solidFill>
              </a:rPr>
              <a:t>Our company information databases in MongoDB have many NA values because </a:t>
            </a:r>
            <a:r>
              <a:rPr lang="en-US" altLang="zh-CN" sz="1600" dirty="0" err="1">
                <a:solidFill>
                  <a:schemeClr val="dk2"/>
                </a:solidFill>
              </a:rPr>
              <a:t>yfinance</a:t>
            </a:r>
            <a:r>
              <a:rPr lang="en-US" altLang="zh-CN" sz="1600" dirty="0">
                <a:solidFill>
                  <a:schemeClr val="dk2"/>
                </a:solidFill>
              </a:rPr>
              <a:t> does not have the information for some companies, but this does not influence our code running, and can be easily edited in the future.</a:t>
            </a:r>
            <a:endParaRPr lang="en-US" sz="1600" dirty="0">
              <a:solidFill>
                <a:schemeClr val="dk2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 b="1" dirty="0">
                <a:solidFill>
                  <a:schemeClr val="dk2"/>
                </a:solidFill>
              </a:rPr>
              <a:t>Licensing</a:t>
            </a: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600" dirty="0">
                <a:solidFill>
                  <a:schemeClr val="dk2"/>
                </a:solidFill>
              </a:rPr>
              <a:t>Both our datasets are free to use with no limitation from those APIs.</a:t>
            </a:r>
            <a:endParaRPr lang="en-US" sz="16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1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125775" y="212550"/>
            <a:ext cx="91440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1" dirty="0">
                <a:solidFill>
                  <a:srgbClr val="595959"/>
                </a:solidFill>
              </a:rPr>
              <a:t>Design Choices &amp; </a:t>
            </a:r>
            <a:r>
              <a:rPr lang="zh-CN" sz="2600" b="1" dirty="0">
                <a:solidFill>
                  <a:schemeClr val="dk2"/>
                </a:solidFill>
              </a:rPr>
              <a:t>Technologies </a:t>
            </a:r>
            <a:r>
              <a:rPr lang="zh-CN" sz="2600" b="1" dirty="0">
                <a:solidFill>
                  <a:srgbClr val="595959"/>
                </a:solidFill>
              </a:rPr>
              <a:t>Rationale</a:t>
            </a:r>
            <a:endParaRPr sz="2600" b="1" dirty="0">
              <a:solidFill>
                <a:srgbClr val="595959"/>
              </a:solidFill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25775" y="843750"/>
            <a:ext cx="4916156" cy="4293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altLang="zh-CN" sz="1600" b="1" dirty="0">
                <a:solidFill>
                  <a:schemeClr val="dk2"/>
                </a:solidFill>
              </a:rPr>
              <a:t>pgAdmin4</a:t>
            </a:r>
            <a:endParaRPr sz="1600" b="1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Use SQL to store stock data.</a:t>
            </a:r>
            <a:endParaRPr sz="1300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Well-structured, and much of the data is numeric.</a:t>
            </a:r>
            <a:endParaRPr sz="1300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Ticker and date are used as the primary key.</a:t>
            </a: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sz="1300" dirty="0">
                <a:solidFill>
                  <a:schemeClr val="dk2"/>
                </a:solidFill>
              </a:rPr>
              <a:t>Save storage space and increase searching speed.</a:t>
            </a:r>
            <a:endParaRPr sz="1300" dirty="0">
              <a:solidFill>
                <a:schemeClr val="dk2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600" b="1" dirty="0">
                <a:solidFill>
                  <a:schemeClr val="dk2"/>
                </a:solidFill>
              </a:rPr>
              <a:t>MongoDB</a:t>
            </a:r>
            <a:endParaRPr sz="1600" b="1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Use NoSQL to store company information</a:t>
            </a:r>
            <a:r>
              <a:rPr lang="zh-CN" sz="1300" dirty="0">
                <a:solidFill>
                  <a:schemeClr val="dk2"/>
                </a:solidFill>
              </a:rPr>
              <a:t>.</a:t>
            </a:r>
            <a:endParaRPr sz="1300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sz="1300" dirty="0">
                <a:solidFill>
                  <a:schemeClr val="dk2"/>
                </a:solidFill>
              </a:rPr>
              <a:t>Easy to store and edit unstructured data, which includes websites, numbers, and long strings.</a:t>
            </a:r>
            <a:endParaRPr sz="1300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Including the same ticker to connect with stock data</a:t>
            </a:r>
            <a:r>
              <a:rPr lang="zh-CN" sz="1300" dirty="0">
                <a:solidFill>
                  <a:schemeClr val="dk2"/>
                </a:solidFill>
              </a:rPr>
              <a:t>.</a:t>
            </a:r>
            <a:endParaRPr lang="en-US" altLang="zh-CN" sz="1300" dirty="0">
              <a:solidFill>
                <a:schemeClr val="dk2"/>
              </a:solidFill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tabLst/>
              <a:defRPr/>
            </a:pPr>
            <a:r>
              <a:rPr lang="en-US" sz="1600" b="1" dirty="0">
                <a:solidFill>
                  <a:srgbClr val="595959"/>
                </a:solidFill>
              </a:rPr>
              <a:t>Spark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(extra data generation)</a:t>
            </a:r>
          </a:p>
          <a:p>
            <a:pPr marL="9461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More values to generate based on requests.</a:t>
            </a:r>
          </a:p>
          <a:p>
            <a:pPr marL="9461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Reduce the storage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2FE4E-6BEB-EB20-EF04-406EFCCB3D81}"/>
              </a:ext>
            </a:extLst>
          </p:cNvPr>
          <p:cNvSpPr txBox="1"/>
          <p:nvPr/>
        </p:nvSpPr>
        <p:spPr>
          <a:xfrm>
            <a:off x="5221594" y="4062484"/>
            <a:ext cx="3708141" cy="102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altLang="zh-CN" sz="1600" b="1" dirty="0">
                <a:solidFill>
                  <a:schemeClr val="dk2"/>
                </a:solidFill>
              </a:rPr>
              <a:t>Flask</a:t>
            </a:r>
            <a:endParaRPr lang="en-US" sz="1600" b="1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Create a website that combines those datasets and functions.</a:t>
            </a:r>
            <a:endParaRPr lang="en-US" sz="1300" dirty="0">
              <a:solidFill>
                <a:schemeClr val="dk2"/>
              </a:solidFill>
            </a:endParaRPr>
          </a:p>
        </p:txBody>
      </p:sp>
      <p:pic>
        <p:nvPicPr>
          <p:cNvPr id="1026" name="Picture 2" descr="pgAdmin 4 - ASUSTOR NAS">
            <a:extLst>
              <a:ext uri="{FF2B5EF4-FFF2-40B4-BE49-F238E27FC236}">
                <a16:creationId xmlns:a16="http://schemas.microsoft.com/office/drawing/2014/main" id="{BC92AD25-D619-366E-463E-BDF8AEA3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209" y="843750"/>
            <a:ext cx="518728" cy="51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9508F3A-EA53-14F9-FC4D-5EB3933AF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227" y="2495471"/>
            <a:ext cx="1135117" cy="37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874DC82-45D5-24CC-44F9-251C42704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845" y="4146348"/>
            <a:ext cx="1038172" cy="78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DA5B788-0004-740D-FB2D-0D0EF9378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054" y="3987583"/>
            <a:ext cx="818644" cy="584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omputer code with red text&#10;&#10;Description automatically generated">
            <a:extLst>
              <a:ext uri="{FF2B5EF4-FFF2-40B4-BE49-F238E27FC236}">
                <a16:creationId xmlns:a16="http://schemas.microsoft.com/office/drawing/2014/main" id="{1C4866CC-72DE-8911-8502-F301BAC57B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4076" y="1168315"/>
            <a:ext cx="2133166" cy="1242870"/>
          </a:xfrm>
          <a:prstGeom prst="rect">
            <a:avLst/>
          </a:prstGeom>
        </p:spPr>
      </p:pic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2B2A08D-E479-8A2D-EE15-D6407C5903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4077" y="2392439"/>
            <a:ext cx="4005657" cy="16669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749981" y="3705325"/>
            <a:ext cx="8055000" cy="11097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749981" y="2286875"/>
            <a:ext cx="8055000" cy="11097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95931" y="943675"/>
            <a:ext cx="8055000" cy="1109700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270125" y="710175"/>
            <a:ext cx="2870400" cy="5308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dirty="0"/>
              <a:t>Storage</a:t>
            </a:r>
            <a:r>
              <a:rPr lang="zh-CN" sz="1500" b="1" dirty="0"/>
              <a:t> :</a:t>
            </a:r>
            <a:endParaRPr sz="1300" dirty="0"/>
          </a:p>
        </p:txBody>
      </p:sp>
      <p:sp>
        <p:nvSpPr>
          <p:cNvPr id="130" name="Google Shape;130;p19"/>
          <p:cNvSpPr txBox="1"/>
          <p:nvPr/>
        </p:nvSpPr>
        <p:spPr>
          <a:xfrm>
            <a:off x="199375" y="2077025"/>
            <a:ext cx="3999300" cy="5308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1" dirty="0"/>
              <a:t>Fast Read Speed</a:t>
            </a:r>
            <a:r>
              <a:rPr lang="zh-CN" sz="1500" b="1" dirty="0"/>
              <a:t>:</a:t>
            </a:r>
            <a:endParaRPr sz="1500" b="1" dirty="0"/>
          </a:p>
        </p:txBody>
      </p:sp>
      <p:sp>
        <p:nvSpPr>
          <p:cNvPr id="131" name="Google Shape;131;p19"/>
          <p:cNvSpPr txBox="1"/>
          <p:nvPr/>
        </p:nvSpPr>
        <p:spPr>
          <a:xfrm>
            <a:off x="157725" y="3470425"/>
            <a:ext cx="3491100" cy="5539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/>
              <a:t>Spark</a:t>
            </a:r>
            <a:r>
              <a:rPr lang="zh-CN" sz="1600" b="1" dirty="0"/>
              <a:t>:</a:t>
            </a:r>
            <a:endParaRPr sz="1300" dirty="0"/>
          </a:p>
        </p:txBody>
      </p:sp>
      <p:sp>
        <p:nvSpPr>
          <p:cNvPr id="132" name="Google Shape;132;p19"/>
          <p:cNvSpPr txBox="1"/>
          <p:nvPr/>
        </p:nvSpPr>
        <p:spPr>
          <a:xfrm>
            <a:off x="857231" y="1187925"/>
            <a:ext cx="78405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dirty="0">
                <a:solidFill>
                  <a:schemeClr val="dk1"/>
                </a:solidFill>
              </a:rPr>
              <a:t>• </a:t>
            </a:r>
            <a:r>
              <a:rPr lang="en-US" altLang="zh-CN" sz="1300" dirty="0">
                <a:solidFill>
                  <a:schemeClr val="dk1"/>
                </a:solidFill>
              </a:rPr>
              <a:t>In pgAdmin4, our stock data size is about 2.4GB, which is not a significant increase from the raw data of 1.8 GB.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857331" y="2571750"/>
            <a:ext cx="78936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dirty="0">
                <a:solidFill>
                  <a:schemeClr val="dk1"/>
                </a:solidFill>
              </a:rPr>
              <a:t>• </a:t>
            </a:r>
            <a:r>
              <a:rPr lang="en-US" altLang="zh-CN" sz="1300" dirty="0">
                <a:solidFill>
                  <a:schemeClr val="dk1"/>
                </a:solidFill>
              </a:rPr>
              <a:t>2000ms to read the whole data set(15M rows)</a:t>
            </a:r>
            <a:r>
              <a:rPr lang="zh-CN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dirty="0">
                <a:solidFill>
                  <a:schemeClr val="dk1"/>
                </a:solidFill>
              </a:rPr>
              <a:t>•</a:t>
            </a:r>
            <a:r>
              <a:rPr lang="en-US" altLang="zh-CN" sz="1300" dirty="0">
                <a:solidFill>
                  <a:schemeClr val="dk1"/>
                </a:solidFill>
              </a:rPr>
              <a:t> 2ms to 4ms to read selected (4000 rows) data by searching on primary key: ticker and date.</a:t>
            </a:r>
            <a:endParaRPr dirty="0"/>
          </a:p>
        </p:txBody>
      </p:sp>
      <p:sp>
        <p:nvSpPr>
          <p:cNvPr id="134" name="Google Shape;134;p19"/>
          <p:cNvSpPr txBox="1"/>
          <p:nvPr/>
        </p:nvSpPr>
        <p:spPr>
          <a:xfrm>
            <a:off x="856539" y="4098243"/>
            <a:ext cx="7847100" cy="100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1"/>
                </a:solidFill>
              </a:rPr>
              <a:t>Flexible calculation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dk1"/>
                </a:solidFill>
              </a:rPr>
              <a:t>Reduce 25% of the data size to store, and this number can be increased if more calculations added in.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19;p18">
            <a:extLst>
              <a:ext uri="{FF2B5EF4-FFF2-40B4-BE49-F238E27FC236}">
                <a16:creationId xmlns:a16="http://schemas.microsoft.com/office/drawing/2014/main" id="{6EB847DD-0280-1EAA-73E6-80965FA23250}"/>
              </a:ext>
            </a:extLst>
          </p:cNvPr>
          <p:cNvSpPr txBox="1"/>
          <p:nvPr/>
        </p:nvSpPr>
        <p:spPr>
          <a:xfrm>
            <a:off x="125775" y="212550"/>
            <a:ext cx="91440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1" dirty="0">
                <a:solidFill>
                  <a:srgbClr val="595959"/>
                </a:solidFill>
              </a:rPr>
              <a:t>Design Performance</a:t>
            </a:r>
            <a:endParaRPr sz="2600" b="1" dirty="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EE8C6B2-7C52-2A38-BB15-2CFCE6E27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>
            <a:extLst>
              <a:ext uri="{FF2B5EF4-FFF2-40B4-BE49-F238E27FC236}">
                <a16:creationId xmlns:a16="http://schemas.microsoft.com/office/drawing/2014/main" id="{FA0EDB62-F50C-883E-0067-769CB1D3A7FF}"/>
              </a:ext>
            </a:extLst>
          </p:cNvPr>
          <p:cNvSpPr txBox="1"/>
          <p:nvPr/>
        </p:nvSpPr>
        <p:spPr>
          <a:xfrm>
            <a:off x="125775" y="212550"/>
            <a:ext cx="9144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Scalability</a:t>
            </a:r>
            <a:endParaRPr lang="en-US" sz="2400" b="1" dirty="0">
              <a:solidFill>
                <a:srgbClr val="59595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7D149E-F1E4-C777-2902-F9091173C540}"/>
              </a:ext>
            </a:extLst>
          </p:cNvPr>
          <p:cNvSpPr txBox="1"/>
          <p:nvPr/>
        </p:nvSpPr>
        <p:spPr>
          <a:xfrm>
            <a:off x="125775" y="842323"/>
            <a:ext cx="8881591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altLang="zh-CN" sz="1300" b="1" dirty="0">
                <a:solidFill>
                  <a:schemeClr val="dk2"/>
                </a:solidFill>
              </a:rPr>
              <a:t>Storage</a:t>
            </a:r>
            <a:endParaRPr lang="en-US" sz="1300" b="1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Many other stock data from different API and databases can be stored in this pgAdmine4 database, since stock data is numeric and uses a similar structure(mainly based on ticker and data).</a:t>
            </a:r>
            <a:endParaRPr lang="en-US" sz="1300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More companies’ information and details can be easily inserted into the MongoDB database.</a:t>
            </a:r>
            <a:endParaRPr lang="en-US" sz="1300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Now 2.5GB data size can be expanded to 1~2TB based on use case in the future.</a:t>
            </a:r>
            <a:endParaRPr lang="en-US" sz="1300" dirty="0">
              <a:solidFill>
                <a:schemeClr val="dk2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-US" sz="1300" b="1" dirty="0">
                <a:solidFill>
                  <a:schemeClr val="dk2"/>
                </a:solidFill>
              </a:rPr>
              <a:t>Compute</a:t>
            </a: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Using Spark allows for distributed computation and improvement in hardware to increase the performance.</a:t>
            </a:r>
            <a:endParaRPr lang="en-US" sz="1300" dirty="0">
              <a:solidFill>
                <a:schemeClr val="dk2"/>
              </a:solidFill>
            </a:endParaRPr>
          </a:p>
          <a:p>
            <a:pPr marL="9144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More functions and elements with Spark can be inserted into the website</a:t>
            </a:r>
            <a:endParaRPr lang="en-US" sz="1300" dirty="0">
              <a:solidFill>
                <a:schemeClr val="dk2"/>
              </a:solidFill>
            </a:endParaRPr>
          </a:p>
          <a:p>
            <a:pPr marL="457200" marR="0" lvl="0" indent="-330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tabLst/>
              <a:defRPr/>
            </a:pPr>
            <a:r>
              <a:rPr lang="en-US" sz="1300" b="1" dirty="0">
                <a:solidFill>
                  <a:srgbClr val="595959"/>
                </a:solidFill>
              </a:rPr>
              <a:t>Infrastructure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9461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en-US" altLang="zh-CN" sz="1300" dirty="0">
                <a:solidFill>
                  <a:schemeClr val="dk2"/>
                </a:solidFill>
              </a:rPr>
              <a:t>Using cloud storage or local storage allows for manual scaling. Cloud storage offers greater flexibility.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2853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62A9BCFC-65DE-026E-B64A-FEDCDEDF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>
            <a:extLst>
              <a:ext uri="{FF2B5EF4-FFF2-40B4-BE49-F238E27FC236}">
                <a16:creationId xmlns:a16="http://schemas.microsoft.com/office/drawing/2014/main" id="{A98155BC-B32B-5BB8-38AF-F486F2E77C29}"/>
              </a:ext>
            </a:extLst>
          </p:cNvPr>
          <p:cNvSpPr txBox="1"/>
          <p:nvPr/>
        </p:nvSpPr>
        <p:spPr>
          <a:xfrm>
            <a:off x="104754" y="86426"/>
            <a:ext cx="9144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595959"/>
                </a:solidFill>
              </a:rPr>
              <a:t>Future Cost</a:t>
            </a:r>
            <a:endParaRPr sz="2400" b="1" dirty="0">
              <a:solidFill>
                <a:srgbClr val="595959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C33894-A33C-EF77-17E1-B1E698370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659591"/>
              </p:ext>
            </p:extLst>
          </p:nvPr>
        </p:nvGraphicFramePr>
        <p:xfrm>
          <a:off x="104754" y="640394"/>
          <a:ext cx="8744956" cy="2864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2274">
                  <a:extLst>
                    <a:ext uri="{9D8B030D-6E8A-4147-A177-3AD203B41FA5}">
                      <a16:colId xmlns:a16="http://schemas.microsoft.com/office/drawing/2014/main" val="3157063048"/>
                    </a:ext>
                  </a:extLst>
                </a:gridCol>
                <a:gridCol w="3001427">
                  <a:extLst>
                    <a:ext uri="{9D8B030D-6E8A-4147-A177-3AD203B41FA5}">
                      <a16:colId xmlns:a16="http://schemas.microsoft.com/office/drawing/2014/main" val="940393651"/>
                    </a:ext>
                  </a:extLst>
                </a:gridCol>
                <a:gridCol w="2291255">
                  <a:extLst>
                    <a:ext uri="{9D8B030D-6E8A-4147-A177-3AD203B41FA5}">
                      <a16:colId xmlns:a16="http://schemas.microsoft.com/office/drawing/2014/main" val="2528849359"/>
                    </a:ext>
                  </a:extLst>
                </a:gridCol>
              </a:tblGrid>
              <a:tr h="458734">
                <a:tc>
                  <a:txBody>
                    <a:bodyPr/>
                    <a:lstStyle/>
                    <a:p>
                      <a:r>
                        <a:rPr lang="en-US" dirty="0"/>
                        <a:t>Assume 1TB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 (Cheap but hard to manage; Have risk of aging)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 (Expensive but Flexible)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7733"/>
                  </a:ext>
                </a:extLst>
              </a:tr>
              <a:tr h="782090">
                <a:tc>
                  <a:txBody>
                    <a:bodyPr/>
                    <a:lstStyle/>
                    <a:p>
                      <a:r>
                        <a:rPr lang="en-US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HDD: $30~$50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 EBS: $80 per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137678"/>
                  </a:ext>
                </a:extLst>
              </a:tr>
              <a:tr h="782090">
                <a:tc>
                  <a:txBody>
                    <a:bodyPr/>
                    <a:lstStyle/>
                    <a:p>
                      <a:r>
                        <a:rPr lang="en-US" dirty="0"/>
                        <a:t>Compute (8Core CPU, 32GB 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$630 fixed cost and 30$ per month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AWS EC2: $138 per month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265821"/>
                  </a:ext>
                </a:extLst>
              </a:tr>
              <a:tr h="78209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noProof="0" dirty="0"/>
                        <a:t>Networking/Egress Costs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AWS: $0.09/GB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9044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632681A-B873-8C46-C8A0-DEC052DE0F0C}"/>
              </a:ext>
            </a:extLst>
          </p:cNvPr>
          <p:cNvSpPr txBox="1"/>
          <p:nvPr/>
        </p:nvSpPr>
        <p:spPr>
          <a:xfrm>
            <a:off x="104755" y="3668110"/>
            <a:ext cx="8744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Performance: Cloud Storage and Computing. We can modify it when our data grows without loss, and it is easy to manage.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Economical: Hybrid Local Storage and Cloud Computing. We can store out data locally with low price, and use Cloud computing to avoid hardware aging.</a:t>
            </a:r>
          </a:p>
        </p:txBody>
      </p:sp>
    </p:spTree>
    <p:extLst>
      <p:ext uri="{BB962C8B-B14F-4D97-AF65-F5344CB8AC3E}">
        <p14:creationId xmlns:p14="http://schemas.microsoft.com/office/powerpoint/2010/main" val="59087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298325" y="196600"/>
            <a:ext cx="7833900" cy="6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 b="1">
                <a:solidFill>
                  <a:srgbClr val="595959"/>
                </a:solidFill>
              </a:rPr>
              <a:t>Conclusion &amp; </a:t>
            </a:r>
            <a:r>
              <a:rPr lang="zh-CN" sz="2900" b="1">
                <a:solidFill>
                  <a:schemeClr val="dk2"/>
                </a:solidFill>
              </a:rPr>
              <a:t>Future Improvements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403450" y="1015450"/>
            <a:ext cx="322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>
                <a:solidFill>
                  <a:schemeClr val="dk1"/>
                </a:solidFill>
              </a:rPr>
              <a:t>What We Did？</a:t>
            </a: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>
                <a:solidFill>
                  <a:schemeClr val="dk1"/>
                </a:solidFill>
              </a:rPr>
              <a:t>API	</a:t>
            </a: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Provide API code to access Nasdaq database</a:t>
            </a: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>
                <a:solidFill>
                  <a:schemeClr val="dk1"/>
                </a:solidFill>
              </a:rPr>
              <a:t>PostgreSQL</a:t>
            </a:r>
            <a:r>
              <a:rPr lang="zh-CN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Store large scale stock price data (15M+ Rows)</a:t>
            </a: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>
                <a:solidFill>
                  <a:schemeClr val="dk1"/>
                </a:solidFill>
              </a:rPr>
              <a:t>Mongodb </a:t>
            </a: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Store flexible company information ( semi - structured data from Yahoo)</a:t>
            </a: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>
                <a:solidFill>
                  <a:schemeClr val="dk1"/>
                </a:solidFill>
              </a:rPr>
              <a:t>Flask</a:t>
            </a:r>
            <a:endParaRPr sz="1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>
                <a:solidFill>
                  <a:schemeClr val="dk1"/>
                </a:solidFill>
              </a:rPr>
              <a:t>Allows users to run real-time queries by ticker and date, customize returned fields, and calculate derived metrics like daily return or price volatility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727" y="3933750"/>
            <a:ext cx="1588422" cy="5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6724" y="3957474"/>
            <a:ext cx="1393549" cy="46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 title="截屏2025-04-24 下午5.33.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9450" y="3945624"/>
            <a:ext cx="1206650" cy="5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 txBox="1"/>
          <p:nvPr/>
        </p:nvSpPr>
        <p:spPr>
          <a:xfrm>
            <a:off x="4030500" y="1015450"/>
            <a:ext cx="5113500" cy="29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>
                <a:solidFill>
                  <a:schemeClr val="dk1"/>
                </a:solidFill>
              </a:rPr>
              <a:t>Next Steps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 b="1">
                <a:solidFill>
                  <a:schemeClr val="dk1"/>
                </a:solidFill>
              </a:rPr>
              <a:t>Hybrid Deployment Model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>
                <a:solidFill>
                  <a:schemeClr val="dk1"/>
                </a:solidFill>
              </a:rPr>
              <a:t>Store data locally for low-cost retention, but perform computations on cloud-based VMs (e.g., Spark on AWS). This improves cost-efficiency while maintaining speed and scalability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 b="1">
                <a:solidFill>
                  <a:schemeClr val="dk1"/>
                </a:solidFill>
              </a:rPr>
              <a:t>Data Enrichment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>
                <a:solidFill>
                  <a:schemeClr val="dk1"/>
                </a:solidFill>
              </a:rPr>
              <a:t>Integrate more fundamental data such as P/E ratio, earnings reports, or ESG scores to provide deeper company insights.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 b="1">
                <a:solidFill>
                  <a:schemeClr val="dk1"/>
                </a:solidFill>
              </a:rPr>
              <a:t>Flask Advanced Query Capabilities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>
                <a:solidFill>
                  <a:schemeClr val="dk1"/>
                </a:solidFill>
              </a:rPr>
              <a:t>Support multi-ticker comparisons, keyword-based screening, and multi-criteria filtering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 b="1">
                <a:solidFill>
                  <a:schemeClr val="dk1"/>
                </a:solidFill>
              </a:rPr>
              <a:t>Personalization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100">
                <a:solidFill>
                  <a:schemeClr val="dk1"/>
                </a:solidFill>
              </a:rPr>
              <a:t>Allow saved queries, user-specific dashboards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</a:endParaRPr>
          </a:p>
        </p:txBody>
      </p:sp>
      <p:pic>
        <p:nvPicPr>
          <p:cNvPr id="173" name="Google Shape;173;p21" title="截屏2025-05-05 下午10.19.3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6950" y="3933741"/>
            <a:ext cx="1393549" cy="536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4916</TotalTime>
  <Words>992</Words>
  <Application>Microsoft Macintosh PowerPoint</Application>
  <PresentationFormat>全屏显示(16:9)</PresentationFormat>
  <Paragraphs>119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bs3568</cp:lastModifiedBy>
  <cp:revision>11</cp:revision>
  <dcterms:modified xsi:type="dcterms:W3CDTF">2025-12-25T23:57:26Z</dcterms:modified>
</cp:coreProperties>
</file>